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notesMasterIdLst>
    <p:notesMasterId r:id="rId13"/>
  </p:notesMasterIdLst>
  <p:sldIdLst>
    <p:sldId id="271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8" r:id="rId11"/>
    <p:sldId id="269" r:id="rId12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C70847-CE03-480B-8F10-C3281872868F}" v="2" dt="2026-06-18T15:16:45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Belcher" userId="5e32593e-d09c-47ab-94f0-f2d7946a4b2a" providerId="ADAL" clId="{89D4B403-7219-4A72-AD65-189E4FE5881D}"/>
    <pc:docChg chg="custSel addSld delSld modSld sldOrd">
      <pc:chgData name="Greg Belcher" userId="5e32593e-d09c-47ab-94f0-f2d7946a4b2a" providerId="ADAL" clId="{89D4B403-7219-4A72-AD65-189E4FE5881D}" dt="2026-06-18T15:19:10.737" v="224" actId="20577"/>
      <pc:docMkLst>
        <pc:docMk/>
      </pc:docMkLst>
      <pc:sldChg chg="modSp mod">
        <pc:chgData name="Greg Belcher" userId="5e32593e-d09c-47ab-94f0-f2d7946a4b2a" providerId="ADAL" clId="{89D4B403-7219-4A72-AD65-189E4FE5881D}" dt="2026-06-18T15:19:10.737" v="224" actId="20577"/>
        <pc:sldMkLst>
          <pc:docMk/>
          <pc:sldMk cId="0" sldId="257"/>
        </pc:sldMkLst>
        <pc:spChg chg="mod">
          <ac:chgData name="Greg Belcher" userId="5e32593e-d09c-47ab-94f0-f2d7946a4b2a" providerId="ADAL" clId="{89D4B403-7219-4A72-AD65-189E4FE5881D}" dt="2026-06-18T15:19:10.737" v="224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Greg Belcher" userId="5e32593e-d09c-47ab-94f0-f2d7946a4b2a" providerId="ADAL" clId="{89D4B403-7219-4A72-AD65-189E4FE5881D}" dt="2026-06-18T15:11:28.678" v="222" actId="2696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74BA1C-E1EB-48D2-B669-664FEA47E325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63638"/>
            <a:ext cx="4189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1420F-66CE-493F-9011-7335F8300C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172303E4-BA0C-41A5-B8BB-068B62990574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038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E69BE-39E6-41B0-AE9E-97BF2AFD181B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A3E0-2D7A-47AD-A99B-49F3DEAEE6A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343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87624-0421-425C-977E-4842B38053CA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87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E53A-0902-4806-B122-F6B28257D3A1}" type="datetime1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793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74542-8692-4603-B7E9-63906B4911F0}" type="datetime1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33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8E1DB-BA6A-4718-B8DC-09CE39E80068}" type="datetime1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73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F16C7-1A91-46D9-B027-6F955DE74DFF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24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B57A0-CDC8-45C8-BC2A-1C013BF9E03A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C0B48-1BD5-4412-BE7E-8C492E409B60}" type="datetime1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36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FEB3-6515-4D69-AD47-FAEB8A438028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111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0583-7AF4-4815-83E2-2FBF9179740A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272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0AA82-7FD6-4E73-BFB2-7FDEF63A3C23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73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AC4E3-A6A7-4C41-8BF2-5547E5ACC511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266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C3BDC-61AC-418A-A53B-C6A6032C8E9A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981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A26B2-775A-46CD-83DD-5575DB12DE22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045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FF793-D641-4577-815A-1351A6F80EA7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88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8FDC343-C62F-4588-BF37-DA6412DC2C61}" type="datetime1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7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9AEB-5EEB-0220-AC80-BCCA4BC317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</a:t>
            </a:r>
            <a:br>
              <a:rPr lang="en-US" dirty="0"/>
            </a:br>
            <a:r>
              <a:rPr lang="en-US" dirty="0"/>
              <a:t>Adult Learners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DA95D-F67B-8C55-0FD4-CDFFFB530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9 Extension, Continuing Education </a:t>
            </a:r>
          </a:p>
          <a:p>
            <a:r>
              <a:rPr lang="en-US" dirty="0"/>
              <a:t>and Proprietary Programs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55BA7-D835-5FD1-F549-8E9149F4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35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Differentiate institutional models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Extension Programs</a:t>
            </a:r>
          </a:p>
          <a:p>
            <a:pPr lvl="1"/>
            <a:r>
              <a:rPr lang="en-US" dirty="0"/>
              <a:t>Continuing Education Programs</a:t>
            </a:r>
          </a:p>
          <a:p>
            <a:pPr lvl="1"/>
            <a:r>
              <a:rPr lang="en-US" dirty="0"/>
              <a:t>Proprietary Programs</a:t>
            </a:r>
            <a:endParaRPr dirty="0"/>
          </a:p>
          <a:p>
            <a:pPr lvl="1"/>
            <a:r>
              <a:rPr dirty="0"/>
              <a:t>Evaluate accelerated instructional design</a:t>
            </a:r>
          </a:p>
          <a:p>
            <a:pPr lvl="1"/>
            <a:r>
              <a:rPr lang="en-US"/>
              <a:t> </a:t>
            </a:r>
            <a:r>
              <a:t>Assess </a:t>
            </a:r>
            <a:r>
              <a:rPr dirty="0"/>
              <a:t>ethical and quality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7743-41AF-C556-1636-D91F9EE49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Extension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University-affiliated outreach education</a:t>
            </a:r>
          </a:p>
          <a:p>
            <a:pPr lvl="1"/>
            <a:r>
              <a:t>Community-centered mission</a:t>
            </a:r>
          </a:p>
          <a:p>
            <a:pPr lvl="1"/>
            <a:r>
              <a:t>Flexible enrollment &amp; non-degree options</a:t>
            </a:r>
          </a:p>
          <a:p>
            <a:pPr lvl="1"/>
            <a:r>
              <a:t>Agriculture, business, workforce, health, leadership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BBA51-69D8-D1D2-5C81-E772A394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Extension Learner </a:t>
            </a:r>
            <a:br>
              <a:rPr lang="en-US" dirty="0"/>
            </a:br>
            <a:r>
              <a:rPr dirty="0"/>
              <a:t>Profile &amp; Design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Rural learners, entrepreneurs, working adults</a:t>
            </a:r>
          </a:p>
          <a:p>
            <a:pPr lvl="1"/>
            <a:r>
              <a:t>Applied, context-driven instruction</a:t>
            </a:r>
          </a:p>
          <a:p>
            <a:pPr lvl="1"/>
            <a:r>
              <a:t>Flexible scheduling (hybrid/blended)</a:t>
            </a:r>
          </a:p>
          <a:p>
            <a:pPr lvl="1"/>
            <a:r>
              <a:t>Problem-centered and community-based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7F07D-8BF1-1D86-1AC4-65C3EB81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Continuing Education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 workshops &amp; certificates</a:t>
            </a:r>
          </a:p>
          <a:p>
            <a:pPr lvl="1"/>
            <a:r>
              <a:t>Micro-credentials and CEUs</a:t>
            </a:r>
          </a:p>
          <a:p>
            <a:pPr lvl="1"/>
            <a:r>
              <a:t>Career advancement &amp; licensure maintenance</a:t>
            </a:r>
          </a:p>
          <a:p>
            <a:pPr lvl="1"/>
            <a:r>
              <a:t>Time-sensitive, ROI-focused learners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0C02B-962B-BCBB-38D6-06134485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Proprietary (For-Profit) Institutions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Market-driven education model</a:t>
            </a:r>
          </a:p>
          <a:p>
            <a:pPr lvl="1"/>
            <a:r>
              <a:t>Accelerated programs</a:t>
            </a:r>
          </a:p>
          <a:p>
            <a:pPr lvl="1"/>
            <a:r>
              <a:t>Career-focused credentials</a:t>
            </a:r>
          </a:p>
          <a:p>
            <a:pPr lvl="1"/>
            <a:r>
              <a:t>High accountability for completion &amp; placement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24D7F-87AD-6DAA-C67C-4B8086109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Ethical Considerations in Proprietary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Transparent recruitment practices</a:t>
            </a:r>
          </a:p>
          <a:p>
            <a:pPr lvl="1"/>
            <a:r>
              <a:t>Accurate job placement reporting</a:t>
            </a:r>
          </a:p>
          <a:p>
            <a:pPr lvl="1"/>
            <a:r>
              <a:t>Financial aid counseling</a:t>
            </a:r>
          </a:p>
          <a:p>
            <a:pPr lvl="1"/>
            <a:r>
              <a:t>Student debt awareness</a:t>
            </a:r>
          </a:p>
          <a:p>
            <a:pPr lvl="1"/>
            <a:r>
              <a:t>Accreditation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51050-6C39-2442-413A-F7C05F1A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Accelerated Format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Cognitive overload risk</a:t>
            </a:r>
          </a:p>
          <a:p>
            <a:pPr lvl="1"/>
            <a:r>
              <a:t>Burnout potential</a:t>
            </a:r>
          </a:p>
          <a:p>
            <a:pPr lvl="1"/>
            <a:r>
              <a:t>Reduced reflection time</a:t>
            </a:r>
          </a:p>
          <a:p>
            <a:pPr lvl="1"/>
            <a:r>
              <a:t>Need for modular, scaffolded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98D32-7F34-9FD0-FDD6-61063EFF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Micro-Credentials &amp; Stackable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badges &amp; industry certifications</a:t>
            </a:r>
          </a:p>
          <a:p>
            <a:pPr lvl="1"/>
            <a:r>
              <a:t>Incremental achievement milestones</a:t>
            </a:r>
          </a:p>
          <a:p>
            <a:pPr lvl="1"/>
            <a:r>
              <a:t>Portable credentials</a:t>
            </a:r>
          </a:p>
          <a:p>
            <a:pPr lvl="1"/>
            <a:r>
              <a:t>Competency-based assessment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C0834-053F-96EB-5932-73831CB6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Online &amp; Hybrid Delivery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Instructor presence is critical</a:t>
            </a:r>
          </a:p>
          <a:p>
            <a:pPr lvl="1"/>
            <a:r>
              <a:t>Clear communication cadence</a:t>
            </a:r>
          </a:p>
          <a:p>
            <a:pPr lvl="1"/>
            <a:r>
              <a:t>Peer collaboration requirements</a:t>
            </a:r>
          </a:p>
          <a:p>
            <a:pPr lvl="1"/>
            <a:r>
              <a:t>Authentic workplace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EAE38-B7C6-B959-D78E-C72B3503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Assurance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Accreditation compliance</a:t>
            </a:r>
          </a:p>
          <a:p>
            <a:pPr lvl="1"/>
            <a:r>
              <a:t>Completion &amp; placement metrics</a:t>
            </a:r>
          </a:p>
          <a:p>
            <a:pPr lvl="1"/>
            <a:r>
              <a:t>Program evaluation systems</a:t>
            </a:r>
          </a:p>
          <a:p>
            <a:pPr lvl="1"/>
            <a:r>
              <a:t>Continuous improvement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02DC0-F460-4FFD-0838-5E2DAF2F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1261</TotalTime>
  <Words>223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Garamond</vt:lpstr>
      <vt:lpstr>Organic</vt:lpstr>
      <vt:lpstr>TTED 731  Adult Learners</vt:lpstr>
      <vt:lpstr>Learning Objectives</vt:lpstr>
      <vt:lpstr>Extension Programs</vt:lpstr>
      <vt:lpstr>Extension Learner  Profile &amp; Design Implications</vt:lpstr>
      <vt:lpstr>Continuing Education Programs</vt:lpstr>
      <vt:lpstr>Proprietary (For-Profit) Institutions</vt:lpstr>
      <vt:lpstr>Ethical Considerations in Proprietary Education</vt:lpstr>
      <vt:lpstr>Accelerated Format Challenges</vt:lpstr>
      <vt:lpstr>Micro-Credentials &amp; Stackable Pathways</vt:lpstr>
      <vt:lpstr>Online &amp; Hybrid Delivery Considerations</vt:lpstr>
      <vt:lpstr>Quality Assurance &amp; Evaluation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1</cp:revision>
  <cp:lastPrinted>2026-06-18T15:19:10Z</cp:lastPrinted>
  <dcterms:created xsi:type="dcterms:W3CDTF">2013-01-27T09:14:16Z</dcterms:created>
  <dcterms:modified xsi:type="dcterms:W3CDTF">2026-06-18T15:19:19Z</dcterms:modified>
  <cp:category/>
</cp:coreProperties>
</file>
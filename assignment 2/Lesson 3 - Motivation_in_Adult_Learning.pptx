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46E25-7E2D-4210-9D67-3779116A99DE}" v="1" dt="2026-04-29T19:07:37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Belcher" userId="5e32593e-d09c-47ab-94f0-f2d7946a4b2a" providerId="ADAL" clId="{89D4B403-7219-4A72-AD65-189E4FE5881D}"/>
    <pc:docChg chg="custSel addSld modSld sldOrd">
      <pc:chgData name="Greg Belcher" userId="5e32593e-d09c-47ab-94f0-f2d7946a4b2a" providerId="ADAL" clId="{89D4B403-7219-4A72-AD65-189E4FE5881D}" dt="2026-04-29T19:09:11.449" v="1945" actId="27636"/>
      <pc:docMkLst>
        <pc:docMk/>
      </pc:docMkLst>
      <pc:sldChg chg="modSp mod">
        <pc:chgData name="Greg Belcher" userId="5e32593e-d09c-47ab-94f0-f2d7946a4b2a" providerId="ADAL" clId="{89D4B403-7219-4A72-AD65-189E4FE5881D}" dt="2026-04-29T18:42:36.295" v="581" actId="20577"/>
        <pc:sldMkLst>
          <pc:docMk/>
          <pc:sldMk cId="0" sldId="256"/>
        </pc:sldMkLst>
        <pc:spChg chg="mod">
          <ac:chgData name="Greg Belcher" userId="5e32593e-d09c-47ab-94f0-f2d7946a4b2a" providerId="ADAL" clId="{89D4B403-7219-4A72-AD65-189E4FE5881D}" dt="2026-04-14T19:00:58.482" v="94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8:42:36.295" v="58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8:43:41.764" v="613" actId="6549"/>
        <pc:sldMkLst>
          <pc:docMk/>
          <pc:sldMk cId="0" sldId="257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8:43:41.764" v="613" actId="6549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14T19:02:04.761" v="130" actId="313"/>
        <pc:sldMkLst>
          <pc:docMk/>
          <pc:sldMk cId="0" sldId="258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14T19:02:04.761" v="130" actId="31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8:46:30.273" v="629" actId="20577"/>
        <pc:sldMkLst>
          <pc:docMk/>
          <pc:sldMk cId="0" sldId="259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59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8:46:30.273" v="629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8:50:22.117" v="855" actId="14100"/>
        <pc:sldMkLst>
          <pc:docMk/>
          <pc:sldMk cId="0" sldId="260"/>
        </pc:sldMkLst>
        <pc:spChg chg="mod">
          <ac:chgData name="Greg Belcher" userId="5e32593e-d09c-47ab-94f0-f2d7946a4b2a" providerId="ADAL" clId="{89D4B403-7219-4A72-AD65-189E4FE5881D}" dt="2026-04-14T18:57:37.043" v="2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8:50:22.117" v="855" actId="14100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14T19:03:32.344" v="196" actId="20577"/>
        <pc:sldMkLst>
          <pc:docMk/>
          <pc:sldMk cId="0" sldId="261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14T19:03:32.344" v="196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14T19:03:47.479" v="203" actId="6549"/>
        <pc:sldMkLst>
          <pc:docMk/>
          <pc:sldMk cId="0" sldId="262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14T19:03:47.479" v="203" actId="6549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14T19:04:22.575" v="291" actId="20577"/>
        <pc:sldMkLst>
          <pc:docMk/>
          <pc:sldMk cId="0" sldId="263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14T19:04:22.575" v="29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8:54:39.008" v="1185" actId="20577"/>
        <pc:sldMkLst>
          <pc:docMk/>
          <pc:sldMk cId="0" sldId="264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64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8:54:39.008" v="1185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8:55:13.884" v="1234" actId="20577"/>
        <pc:sldMkLst>
          <pc:docMk/>
          <pc:sldMk cId="0" sldId="265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65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8:55:13.884" v="1234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8:55:36.327" v="1288" actId="20577"/>
        <pc:sldMkLst>
          <pc:docMk/>
          <pc:sldMk cId="0" sldId="266"/>
        </pc:sldMkLst>
        <pc:spChg chg="mod">
          <ac:chgData name="Greg Belcher" userId="5e32593e-d09c-47ab-94f0-f2d7946a4b2a" providerId="ADAL" clId="{89D4B403-7219-4A72-AD65-189E4FE5881D}" dt="2026-04-14T18:57:36.953" v="0"/>
          <ac:spMkLst>
            <pc:docMk/>
            <pc:sldMk cId="0" sldId="266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8:55:36.327" v="128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8:56:19.765" v="1335" actId="20577"/>
        <pc:sldMkLst>
          <pc:docMk/>
          <pc:sldMk cId="0" sldId="267"/>
        </pc:sldMkLst>
        <pc:spChg chg="mod">
          <ac:chgData name="Greg Belcher" userId="5e32593e-d09c-47ab-94f0-f2d7946a4b2a" providerId="ADAL" clId="{89D4B403-7219-4A72-AD65-189E4FE5881D}" dt="2026-04-14T18:57:37.051" v="3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8:56:19.765" v="1335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9:00:34.250" v="1457" actId="20577"/>
        <pc:sldMkLst>
          <pc:docMk/>
          <pc:sldMk cId="0" sldId="268"/>
        </pc:sldMkLst>
        <pc:spChg chg="mod">
          <ac:chgData name="Greg Belcher" userId="5e32593e-d09c-47ab-94f0-f2d7946a4b2a" providerId="ADAL" clId="{89D4B403-7219-4A72-AD65-189E4FE5881D}" dt="2026-04-29T18:56:51.302" v="1336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9:00:34.250" v="1457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4-29T19:07:07.397" v="1924" actId="20577"/>
        <pc:sldMkLst>
          <pc:docMk/>
          <pc:sldMk cId="0" sldId="269"/>
        </pc:sldMkLst>
        <pc:spChg chg="mod">
          <ac:chgData name="Greg Belcher" userId="5e32593e-d09c-47ab-94f0-f2d7946a4b2a" providerId="ADAL" clId="{89D4B403-7219-4A72-AD65-189E4FE5881D}" dt="2026-04-29T19:07:07.397" v="1924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Greg Belcher" userId="5e32593e-d09c-47ab-94f0-f2d7946a4b2a" providerId="ADAL" clId="{89D4B403-7219-4A72-AD65-189E4FE5881D}" dt="2026-04-29T19:01:09.258" v="1483" actId="6549"/>
          <ac:spMkLst>
            <pc:docMk/>
            <pc:sldMk cId="0" sldId="269"/>
            <ac:spMk id="3" creationId="{00000000-0000-0000-0000-000000000000}"/>
          </ac:spMkLst>
        </pc:spChg>
      </pc:sldChg>
      <pc:sldChg chg="modSp new mod ord">
        <pc:chgData name="Greg Belcher" userId="5e32593e-d09c-47ab-94f0-f2d7946a4b2a" providerId="ADAL" clId="{89D4B403-7219-4A72-AD65-189E4FE5881D}" dt="2026-04-14T18:59:09.978" v="79" actId="20577"/>
        <pc:sldMkLst>
          <pc:docMk/>
          <pc:sldMk cId="2228681148" sldId="270"/>
        </pc:sldMkLst>
        <pc:spChg chg="mod">
          <ac:chgData name="Greg Belcher" userId="5e32593e-d09c-47ab-94f0-f2d7946a4b2a" providerId="ADAL" clId="{89D4B403-7219-4A72-AD65-189E4FE5881D}" dt="2026-04-14T18:58:46.323" v="31" actId="20577"/>
          <ac:spMkLst>
            <pc:docMk/>
            <pc:sldMk cId="2228681148" sldId="270"/>
            <ac:spMk id="2" creationId="{57F074D5-EBDD-754B-128D-11BE6A3DB1DE}"/>
          </ac:spMkLst>
        </pc:spChg>
        <pc:spChg chg="mod">
          <ac:chgData name="Greg Belcher" userId="5e32593e-d09c-47ab-94f0-f2d7946a4b2a" providerId="ADAL" clId="{89D4B403-7219-4A72-AD65-189E4FE5881D}" dt="2026-04-14T18:59:09.978" v="79" actId="20577"/>
          <ac:spMkLst>
            <pc:docMk/>
            <pc:sldMk cId="2228681148" sldId="270"/>
            <ac:spMk id="3" creationId="{4C6929FE-BB98-3F4A-3896-684EE375CB6E}"/>
          </ac:spMkLst>
        </pc:spChg>
      </pc:sldChg>
      <pc:sldChg chg="modSp new mod">
        <pc:chgData name="Greg Belcher" userId="5e32593e-d09c-47ab-94f0-f2d7946a4b2a" providerId="ADAL" clId="{89D4B403-7219-4A72-AD65-189E4FE5881D}" dt="2026-04-29T19:09:11.449" v="1945" actId="27636"/>
        <pc:sldMkLst>
          <pc:docMk/>
          <pc:sldMk cId="3352512175" sldId="271"/>
        </pc:sldMkLst>
        <pc:spChg chg="mod">
          <ac:chgData name="Greg Belcher" userId="5e32593e-d09c-47ab-94f0-f2d7946a4b2a" providerId="ADAL" clId="{89D4B403-7219-4A72-AD65-189E4FE5881D}" dt="2026-04-29T19:03:01.017" v="1581" actId="20577"/>
          <ac:spMkLst>
            <pc:docMk/>
            <pc:sldMk cId="3352512175" sldId="271"/>
            <ac:spMk id="2" creationId="{72F00ED2-5C0B-EE1A-2BA2-94F45344FFFF}"/>
          </ac:spMkLst>
        </pc:spChg>
        <pc:spChg chg="mod">
          <ac:chgData name="Greg Belcher" userId="5e32593e-d09c-47ab-94f0-f2d7946a4b2a" providerId="ADAL" clId="{89D4B403-7219-4A72-AD65-189E4FE5881D}" dt="2026-04-29T19:09:11.449" v="1945" actId="27636"/>
          <ac:spMkLst>
            <pc:docMk/>
            <pc:sldMk cId="3352512175" sldId="271"/>
            <ac:spMk id="3" creationId="{7F2A9797-8B4F-4797-DBD9-087FD8C8AA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5ED4E-E8FF-4839-9AE1-DFF9208804E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32FC9-3815-4DF9-9526-1DA97EB81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5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338B03AE-124C-4583-A03E-BFB93FA3794A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90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3E9A-930D-4ECB-9A45-F5D6771C58A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8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5C0F1-1330-438C-9DD9-31B691E264A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74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0DB2-27DB-4B65-B2FD-80004F6FC8E1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6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D0BE4-C4C7-48AA-9983-761011BE11F8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2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42FE-E9A7-4688-91B1-1C5B2323DE06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40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DEFC-03C3-4F1F-97C7-7BA759EC8D6B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3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8BDE2-AA59-4579-AB8F-4D00632FAB6B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D6D46-AA76-498E-829C-FA37442CB180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E5C16-8A01-411D-9486-8485C6A9DF3F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6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2574-BA72-4E85-83C1-690D4D101C0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99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4519-AA4D-4FE5-B3DF-DC5CA288D8B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62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A6D1-1EFF-440B-96C6-2CA0A6405DD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7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7340-A445-4AAC-B4ED-516D8AD8A55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580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AC03-5AF2-4F03-B28C-4104570D7E3B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505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C309D-70C1-4477-83F8-8F8DC5337543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236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2E1F4-218C-4BA8-AB07-070436500FFB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96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11D387-70C0-48E5-A04A-461DDE763064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074D5-EBDD-754B-128D-11BE6A3DB1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TTED 731 </a:t>
            </a:r>
            <a:br>
              <a:rPr lang="en-US" dirty="0"/>
            </a:br>
            <a:r>
              <a:rPr lang="en-US" dirty="0"/>
              <a:t>Adult Learners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929FE-BB98-3F4A-3896-684EE375C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3: Motivation in Adult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338CF-879C-7C56-6A14-A76666BB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81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is defined as a change in behavior</a:t>
            </a:r>
          </a:p>
          <a:p>
            <a:pPr lvl="1"/>
            <a:r>
              <a:rPr lang="en-US" dirty="0"/>
              <a:t>To have this change, the motivation of the students needs to be taken into account </a:t>
            </a:r>
          </a:p>
          <a:p>
            <a:r>
              <a:rPr dirty="0"/>
              <a:t>Psychological foundations of motivation in adult learners</a:t>
            </a:r>
          </a:p>
          <a:p>
            <a:r>
              <a:rPr lang="en-US" dirty="0"/>
              <a:t>Motivation influences the e</a:t>
            </a:r>
            <a:r>
              <a:rPr dirty="0"/>
              <a:t>ngagement, persistence, and achievement</a:t>
            </a:r>
            <a:r>
              <a:rPr lang="en-US" dirty="0"/>
              <a:t> of the student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9D3B4-3539-E88C-5907-B1D01383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Differentiate intrinsic vs extrinsic motivation</a:t>
            </a:r>
          </a:p>
          <a:p>
            <a:r>
              <a:rPr dirty="0"/>
              <a:t>Explain </a:t>
            </a:r>
            <a:r>
              <a:rPr lang="en-US" dirty="0"/>
              <a:t>Self Determine Theory (</a:t>
            </a:r>
            <a:r>
              <a:rPr dirty="0"/>
              <a:t>SDT</a:t>
            </a:r>
            <a:r>
              <a:rPr lang="en-US" dirty="0"/>
              <a:t>)</a:t>
            </a:r>
            <a:r>
              <a:rPr dirty="0"/>
              <a:t> &amp; Goal Orientation Theory</a:t>
            </a:r>
          </a:p>
          <a:p>
            <a:r>
              <a:rPr dirty="0"/>
              <a:t>Analyze motivation &amp; persistence</a:t>
            </a:r>
          </a:p>
          <a:p>
            <a:r>
              <a:rPr lang="en-US" dirty="0"/>
              <a:t>Motivation in different settings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9E409-2DD8-17E6-57C2-519484CD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Intrinsic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Driven by internal rewards</a:t>
            </a:r>
          </a:p>
          <a:p>
            <a:r>
              <a:rPr dirty="0"/>
              <a:t>Examples:</a:t>
            </a:r>
          </a:p>
          <a:p>
            <a:pPr lvl="1"/>
            <a:r>
              <a:rPr dirty="0"/>
              <a:t>Personal growth</a:t>
            </a:r>
          </a:p>
          <a:p>
            <a:pPr lvl="1"/>
            <a:r>
              <a:rPr dirty="0"/>
              <a:t>Career advancement</a:t>
            </a:r>
          </a:p>
          <a:p>
            <a:pPr lvl="1"/>
            <a:r>
              <a:rPr dirty="0"/>
              <a:t>Curiosity</a:t>
            </a:r>
          </a:p>
          <a:p>
            <a:pPr lvl="1"/>
            <a:r>
              <a:rPr dirty="0"/>
              <a:t>Job performance improvement</a:t>
            </a:r>
            <a:endParaRPr lang="en-US" dirty="0"/>
          </a:p>
          <a:p>
            <a:pPr lvl="1"/>
            <a:r>
              <a:rPr lang="en-US" dirty="0"/>
              <a:t>Self efficacy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48907-9D35-2FD1-5D75-1E623B3E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Extrinsic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Driven by external rewards/pressures</a:t>
            </a:r>
          </a:p>
          <a:p>
            <a:r>
              <a:rPr dirty="0"/>
              <a:t>Examples:</a:t>
            </a:r>
          </a:p>
          <a:p>
            <a:pPr lvl="1"/>
            <a:r>
              <a:rPr dirty="0"/>
              <a:t>Certifications</a:t>
            </a:r>
          </a:p>
          <a:p>
            <a:pPr lvl="1"/>
            <a:r>
              <a:rPr dirty="0"/>
              <a:t>Promotions</a:t>
            </a:r>
          </a:p>
          <a:p>
            <a:pPr lvl="1"/>
            <a:r>
              <a:rPr dirty="0"/>
              <a:t>Employer mandates</a:t>
            </a:r>
          </a:p>
          <a:p>
            <a:pPr lvl="1"/>
            <a:r>
              <a:rPr dirty="0"/>
              <a:t>Financial incentives</a:t>
            </a:r>
            <a:endParaRPr lang="en-US" dirty="0"/>
          </a:p>
          <a:p>
            <a:pPr lvl="1"/>
            <a:r>
              <a:rPr lang="en-US" dirty="0"/>
              <a:t>Increased pay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F4CD-B34C-F221-85B1-B9296618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Self-Determination Theory (SDT)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6968" y="2490135"/>
            <a:ext cx="7223759" cy="35449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Motivation increases when 3 needs are met:</a:t>
            </a:r>
          </a:p>
          <a:p>
            <a:pPr lvl="1"/>
            <a:r>
              <a:rPr dirty="0"/>
              <a:t>Autonomy</a:t>
            </a:r>
            <a:r>
              <a:rPr lang="en-US" dirty="0"/>
              <a:t> – a learner's control over learning</a:t>
            </a:r>
            <a:endParaRPr dirty="0"/>
          </a:p>
          <a:p>
            <a:pPr lvl="1"/>
            <a:r>
              <a:rPr dirty="0"/>
              <a:t>Competence</a:t>
            </a:r>
            <a:r>
              <a:rPr lang="en-US" dirty="0"/>
              <a:t> – a learner’s feeling of being capable of learning</a:t>
            </a:r>
            <a:endParaRPr dirty="0"/>
          </a:p>
          <a:p>
            <a:pPr lvl="1"/>
            <a:r>
              <a:rPr dirty="0"/>
              <a:t>Relatedness</a:t>
            </a:r>
            <a:r>
              <a:rPr lang="en-US" dirty="0"/>
              <a:t> – does the material to be learned connect with something the learner already knows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E0B06-9BF5-9B02-1544-B4E27983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Learner control over learning</a:t>
            </a:r>
          </a:p>
          <a:p>
            <a:r>
              <a:rPr dirty="0"/>
              <a:t>Strategies:</a:t>
            </a:r>
          </a:p>
          <a:p>
            <a:pPr lvl="1"/>
            <a:r>
              <a:rPr dirty="0"/>
              <a:t>Choice in assignments</a:t>
            </a:r>
          </a:p>
          <a:p>
            <a:pPr lvl="1"/>
            <a:r>
              <a:rPr dirty="0"/>
              <a:t>Flexible topics</a:t>
            </a:r>
          </a:p>
          <a:p>
            <a:pPr lvl="1"/>
            <a:r>
              <a:rPr dirty="0"/>
              <a:t>Learner input</a:t>
            </a:r>
            <a:endParaRPr lang="en-US" dirty="0"/>
          </a:p>
          <a:p>
            <a:pPr lvl="1"/>
            <a:r>
              <a:rPr lang="en-US" dirty="0"/>
              <a:t>Can be applied to their life in some way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2C65B-7A87-7447-895F-9589F2079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Feeling capable of success</a:t>
            </a:r>
          </a:p>
          <a:p>
            <a:r>
              <a:rPr dirty="0"/>
              <a:t>Strategies:</a:t>
            </a:r>
          </a:p>
          <a:p>
            <a:pPr lvl="1"/>
            <a:r>
              <a:rPr dirty="0"/>
              <a:t>Clear expectations</a:t>
            </a:r>
          </a:p>
          <a:p>
            <a:pPr lvl="1"/>
            <a:r>
              <a:rPr dirty="0"/>
              <a:t>Scaffolded tasks</a:t>
            </a:r>
          </a:p>
          <a:p>
            <a:pPr lvl="1"/>
            <a:r>
              <a:rPr dirty="0"/>
              <a:t>Constructive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F75A1-DF33-70BF-9D55-7B2F55E8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Connection with </a:t>
            </a:r>
            <a:r>
              <a:rPr lang="en-US" dirty="0"/>
              <a:t>something they already know</a:t>
            </a:r>
            <a:endParaRPr dirty="0"/>
          </a:p>
          <a:p>
            <a:r>
              <a:rPr dirty="0"/>
              <a:t>Strategies:</a:t>
            </a:r>
          </a:p>
          <a:p>
            <a:pPr lvl="1"/>
            <a:r>
              <a:rPr dirty="0"/>
              <a:t>Collaboration</a:t>
            </a:r>
          </a:p>
          <a:p>
            <a:pPr lvl="1"/>
            <a:r>
              <a:rPr dirty="0"/>
              <a:t>Peer discussion</a:t>
            </a:r>
          </a:p>
          <a:p>
            <a:pPr lvl="1"/>
            <a:r>
              <a:rPr dirty="0"/>
              <a:t>Supportive climate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EA689-44B0-391B-2226-621E0FF2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Orientation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How learners approach achievement:</a:t>
            </a:r>
          </a:p>
          <a:p>
            <a:pPr lvl="1"/>
            <a:r>
              <a:rPr dirty="0"/>
              <a:t>Mastery Orientation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Individuals are Learning/Task focused and are looking forward/seeking new skills and knowledge</a:t>
            </a:r>
            <a:endParaRPr dirty="0"/>
          </a:p>
          <a:p>
            <a:pPr lvl="1"/>
            <a:r>
              <a:rPr dirty="0"/>
              <a:t>Performance Orientation</a:t>
            </a:r>
            <a:endParaRPr lang="en-US" dirty="0"/>
          </a:p>
          <a:p>
            <a:pPr lvl="2"/>
            <a:r>
              <a:rPr lang="en-US" dirty="0"/>
              <a:t>Individuals are Ability/Ego focused and are looking to outperform their peers and gain a favorable evaluation/assessment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B9AD3-17F0-4F93-AE50-D167CF8F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Mastery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Focus on learning and improvement</a:t>
            </a:r>
          </a:p>
          <a:p>
            <a:pPr lvl="1"/>
            <a:r>
              <a:rPr dirty="0"/>
              <a:t>Values growth</a:t>
            </a:r>
          </a:p>
          <a:p>
            <a:pPr lvl="1"/>
            <a:r>
              <a:rPr dirty="0"/>
              <a:t>Seeks feedback</a:t>
            </a:r>
          </a:p>
          <a:p>
            <a:pPr lvl="1"/>
            <a:r>
              <a:rPr dirty="0"/>
              <a:t>Persists through challenges</a:t>
            </a:r>
            <a:endParaRPr lang="en-US" dirty="0"/>
          </a:p>
          <a:p>
            <a:pPr lvl="1"/>
            <a:r>
              <a:rPr lang="en-US" dirty="0"/>
              <a:t>Looking to master new skills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A95EA-E844-128F-87D1-37C091ED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Focus on demonstrating ability</a:t>
            </a:r>
          </a:p>
          <a:p>
            <a:pPr lvl="1"/>
            <a:r>
              <a:rPr dirty="0"/>
              <a:t>Concern with evaluation</a:t>
            </a:r>
          </a:p>
          <a:p>
            <a:pPr lvl="1"/>
            <a:r>
              <a:rPr dirty="0"/>
              <a:t>Focus on grades</a:t>
            </a:r>
          </a:p>
          <a:p>
            <a:pPr lvl="1"/>
            <a:r>
              <a:rPr dirty="0"/>
              <a:t>Avoids challenges</a:t>
            </a:r>
            <a:endParaRPr lang="en-US" dirty="0"/>
          </a:p>
          <a:p>
            <a:pPr lvl="1"/>
            <a:r>
              <a:rPr lang="en-US" dirty="0"/>
              <a:t>Looking to outperform peers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ECECE-2D05-EECD-7442-D921A7EC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Motivation in Workforce Retraining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Factors:</a:t>
            </a:r>
          </a:p>
          <a:p>
            <a:pPr lvl="1"/>
            <a:r>
              <a:rPr dirty="0"/>
              <a:t>Employment opportunities</a:t>
            </a:r>
          </a:p>
          <a:p>
            <a:pPr lvl="1"/>
            <a:r>
              <a:rPr dirty="0"/>
              <a:t>Skill development</a:t>
            </a:r>
          </a:p>
          <a:p>
            <a:pPr lvl="1"/>
            <a:r>
              <a:rPr dirty="0"/>
              <a:t>Economic stability</a:t>
            </a:r>
            <a:endParaRPr lang="en-US" dirty="0"/>
          </a:p>
          <a:p>
            <a:pPr lvl="1"/>
            <a:r>
              <a:rPr lang="en-US" dirty="0"/>
              <a:t>Increase in salary/pay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E850F-7E95-E1F7-BADB-FC24EA75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Motivation in </a:t>
            </a:r>
            <a:br>
              <a:rPr lang="en-US" dirty="0"/>
            </a:br>
            <a:r>
              <a:rPr dirty="0"/>
              <a:t>Correctional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Factors:</a:t>
            </a:r>
          </a:p>
          <a:p>
            <a:pPr lvl="1"/>
            <a:r>
              <a:rPr dirty="0"/>
              <a:t>Rehabilitation</a:t>
            </a:r>
          </a:p>
          <a:p>
            <a:pPr lvl="1"/>
            <a:r>
              <a:rPr dirty="0"/>
              <a:t>Personal </a:t>
            </a:r>
            <a:r>
              <a:rPr lang="en-US" dirty="0"/>
              <a:t>growth and </a:t>
            </a:r>
            <a:r>
              <a:rPr dirty="0"/>
              <a:t>transformation</a:t>
            </a:r>
            <a:endParaRPr lang="en-US" dirty="0"/>
          </a:p>
          <a:p>
            <a:pPr lvl="1"/>
            <a:r>
              <a:rPr lang="en-US" dirty="0"/>
              <a:t>Reduces recidivism (return to prison)</a:t>
            </a:r>
            <a:endParaRPr dirty="0"/>
          </a:p>
          <a:p>
            <a:pPr lvl="1"/>
            <a:r>
              <a:rPr dirty="0"/>
              <a:t>Build self-efficacy</a:t>
            </a:r>
            <a:endParaRPr lang="en-US" dirty="0"/>
          </a:p>
          <a:p>
            <a:pPr lvl="1"/>
            <a:r>
              <a:rPr dirty="0"/>
              <a:t>Safe environment</a:t>
            </a:r>
            <a:endParaRPr lang="en-US" dirty="0"/>
          </a:p>
          <a:p>
            <a:pPr lvl="1"/>
            <a:r>
              <a:rPr lang="en-US" dirty="0"/>
              <a:t>Maybe a part of the release criteria </a:t>
            </a:r>
          </a:p>
          <a:p>
            <a:pPr lvl="1"/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8D1A3-77EE-9CDE-28AD-26CD9328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 in </a:t>
            </a:r>
            <a:r>
              <a:rPr lang="en-US" dirty="0"/>
              <a:t>Private Industry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Factors:</a:t>
            </a:r>
          </a:p>
          <a:p>
            <a:pPr lvl="1"/>
            <a:r>
              <a:rPr dirty="0"/>
              <a:t>Career mobility</a:t>
            </a:r>
          </a:p>
          <a:p>
            <a:pPr lvl="1"/>
            <a:r>
              <a:rPr dirty="0"/>
              <a:t>Certification</a:t>
            </a:r>
          </a:p>
          <a:p>
            <a:pPr lvl="1"/>
            <a:r>
              <a:rPr dirty="0"/>
              <a:t>Employer expectations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16A74-7159-AAE4-CC93-98EB7014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0ED2-5C0B-EE1A-2BA2-94F45344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 in Community/Technical College/Technology Center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A9797-8B4F-4797-DBD9-087FD8C8A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Factors: </a:t>
            </a:r>
          </a:p>
          <a:p>
            <a:pPr lvl="1"/>
            <a:r>
              <a:rPr lang="en-US" dirty="0"/>
              <a:t>Personal fulfillment </a:t>
            </a:r>
          </a:p>
          <a:p>
            <a:pPr lvl="1"/>
            <a:r>
              <a:rPr lang="en-US" dirty="0"/>
              <a:t>Career advancement</a:t>
            </a:r>
          </a:p>
          <a:p>
            <a:pPr lvl="1"/>
            <a:r>
              <a:rPr lang="en-US" dirty="0"/>
              <a:t>Economic mobility</a:t>
            </a:r>
          </a:p>
          <a:p>
            <a:pPr lvl="1"/>
            <a:r>
              <a:rPr lang="en-US" dirty="0"/>
              <a:t>Depending on level of student, these individuals tend to have more diverse motivational needs</a:t>
            </a:r>
          </a:p>
          <a:p>
            <a:pPr lvl="2"/>
            <a:r>
              <a:rPr lang="en-US" dirty="0"/>
              <a:t>High school or recent graduate from high school</a:t>
            </a:r>
          </a:p>
          <a:p>
            <a:pPr lvl="2"/>
            <a:r>
              <a:rPr lang="en-US" dirty="0"/>
              <a:t>Displaced workers</a:t>
            </a:r>
          </a:p>
          <a:p>
            <a:pPr lvl="2"/>
            <a:r>
              <a:rPr lang="en-US" dirty="0"/>
              <a:t>Non-traditional vs traditional students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D01EB-B697-273F-2363-4C9FCBB96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121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</TotalTime>
  <Words>419</Words>
  <Application>Microsoft Office PowerPoint</Application>
  <PresentationFormat>On-screen Show (4:3)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Garamond</vt:lpstr>
      <vt:lpstr>Organic</vt:lpstr>
      <vt:lpstr>TTED 731  Adult Learners</vt:lpstr>
      <vt:lpstr>Introduction</vt:lpstr>
      <vt:lpstr>Learning Objectives</vt:lpstr>
      <vt:lpstr>Intrinsic Motivation</vt:lpstr>
      <vt:lpstr>Extrinsic Motivation</vt:lpstr>
      <vt:lpstr>Self-Determination Theory (SDT)</vt:lpstr>
      <vt:lpstr>Autonomy</vt:lpstr>
      <vt:lpstr>Competence</vt:lpstr>
      <vt:lpstr>Relatedness</vt:lpstr>
      <vt:lpstr>Goal Orientation Theory</vt:lpstr>
      <vt:lpstr>Mastery Orientation</vt:lpstr>
      <vt:lpstr>Performance Orientation</vt:lpstr>
      <vt:lpstr>Motivation in Workforce Retraining</vt:lpstr>
      <vt:lpstr>Motivation in  Correctional Education</vt:lpstr>
      <vt:lpstr>Motivation in Private Industry</vt:lpstr>
      <vt:lpstr>Motivation in Community/Technical College/Technology Center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Greg Belcher</dc:creator>
  <cp:keywords/>
  <dc:description>generated using python-pptx</dc:description>
  <cp:lastModifiedBy>Greg Belcher</cp:lastModifiedBy>
  <cp:revision>1</cp:revision>
  <dcterms:created xsi:type="dcterms:W3CDTF">2013-01-27T09:14:16Z</dcterms:created>
  <dcterms:modified xsi:type="dcterms:W3CDTF">2026-04-29T19:09:17Z</dcterms:modified>
  <cp:category/>
</cp:coreProperties>
</file>